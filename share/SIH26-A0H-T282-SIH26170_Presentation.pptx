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7" r:id="rId5"/>
    <p:sldId id="294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4716"/>
  </p:normalViewPr>
  <p:slideViewPr>
    <p:cSldViewPr snapToGrid="0" snapToObjects="1">
      <p:cViewPr>
        <p:scale>
          <a:sx n="126" d="100"/>
          <a:sy n="126" d="100"/>
        </p:scale>
        <p:origin x="112" y="2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hap.readthedocs.io/en/latest/" TargetMode="External"/><Relationship Id="rId3" Type="http://schemas.openxmlformats.org/officeDocument/2006/relationships/hyperlink" Target="https://data.nasa.gov/dataset/insulated-gate-bipolar-transistor-igbt-accelerated-aging" TargetMode="External"/><Relationship Id="rId7" Type="http://schemas.openxmlformats.org/officeDocument/2006/relationships/hyperlink" Target="https://scikit-learn.org/stable/modules/outlier_detection.htm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asa.gov/intelligent-systems-division/discovery-and-systems-health/pcoe/pcoe-data-set-repository/" TargetMode="External"/><Relationship Id="rId5" Type="http://schemas.openxmlformats.org/officeDocument/2006/relationships/hyperlink" Target="https://data.nasa.gov/dataset/accelerated-aging-with-electrical-overstress-and-prognostics-for-power-mosfets" TargetMode="External"/><Relationship Id="rId4" Type="http://schemas.openxmlformats.org/officeDocument/2006/relationships/hyperlink" Target="https://data.nasa.gov/dataset/prognostics-of-power-mosfets-under-thermal-stress-accelerated-aging-using-data-driven-and--3f82a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8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41382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18671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7714" y="1250550"/>
            <a:ext cx="1160300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26170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AI-Driven Anomaly Detection in</a:t>
            </a:r>
          </a:p>
          <a:p>
            <a:pPr algn="just">
              <a:lnSpc>
                <a:spcPct val="10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  Component Burn-In &amp; Screening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 - 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SIH26-A0H-T282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Odyysix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lang="en-IN" sz="3600" b="1" dirty="0"/>
              <a:t> </a:t>
            </a:r>
            <a:br>
              <a:rPr lang="en-IN" sz="3600" b="1" dirty="0"/>
            </a:br>
            <a:endParaRPr lang="en-US" sz="2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8" name="Picture 15367">
            <a:extLst>
              <a:ext uri="{FF2B5EF4-FFF2-40B4-BE49-F238E27FC236}">
                <a16:creationId xmlns:a16="http://schemas.microsoft.com/office/drawing/2014/main" id="{4040F548-33B9-74B6-0A75-4F43406EC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3984" y="-127177"/>
            <a:ext cx="1463536" cy="14635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99E919-1CA9-71E9-306F-95C187CB2678}"/>
              </a:ext>
            </a:extLst>
          </p:cNvPr>
          <p:cNvSpPr txBox="1"/>
          <p:nvPr/>
        </p:nvSpPr>
        <p:spPr>
          <a:xfrm>
            <a:off x="1907056" y="217355"/>
            <a:ext cx="7873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Anomaly Detection in Component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Burn-In &amp; Screening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C0F1B-379A-90D3-777D-9510147EE7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0695"/>
          <a:stretch>
            <a:fillRect/>
          </a:stretch>
        </p:blipFill>
        <p:spPr>
          <a:xfrm>
            <a:off x="182998" y="1264207"/>
            <a:ext cx="11721318" cy="47855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6AE85E-3EE0-4B79-C552-56E0CE52D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55" name="Picture 17454">
            <a:extLst>
              <a:ext uri="{FF2B5EF4-FFF2-40B4-BE49-F238E27FC236}">
                <a16:creationId xmlns:a16="http://schemas.microsoft.com/office/drawing/2014/main" id="{68C0A2C0-952C-480F-4B2C-915F78587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2168" y="-94169"/>
            <a:ext cx="1463536" cy="14635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7CC48-E90A-D1E2-2578-843E60B37D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659" t="11673" r="-1"/>
          <a:stretch>
            <a:fillRect/>
          </a:stretch>
        </p:blipFill>
        <p:spPr>
          <a:xfrm>
            <a:off x="0" y="1338520"/>
            <a:ext cx="12035570" cy="488188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30BD8A7-7EFF-FDC7-8A3C-D922C47B6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2BCA4B-EA21-6176-0263-500B767DC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088" y="-146552"/>
            <a:ext cx="1463536" cy="146353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4" name="TextBox 3"/>
          <p:cNvSpPr txBox="1"/>
          <p:nvPr/>
        </p:nvSpPr>
        <p:spPr>
          <a:xfrm>
            <a:off x="365760" y="932688"/>
            <a:ext cx="113385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450" b="1">
                <a:solidFill>
                  <a:srgbClr val="11305B"/>
                </a:solidFill>
                <a:latin typeface="Aptos"/>
              </a:rPr>
              <a:t>WHY THE IDEA IS FEASIBLE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61872"/>
            <a:ext cx="2743200" cy="1481328"/>
          </a:xfrm>
          <a:prstGeom prst="roundRect">
            <a:avLst/>
          </a:prstGeom>
          <a:solidFill>
            <a:srgbClr val="EEF7FD"/>
          </a:solidFill>
          <a:ln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1371600"/>
            <a:ext cx="2450592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280" b="1" dirty="0">
                <a:solidFill>
                  <a:srgbClr val="1F6FB8"/>
                </a:solidFill>
                <a:latin typeface="Aptos"/>
              </a:rPr>
              <a:t>SOFTWARE-ONLY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737360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 dirty="0">
                <a:solidFill>
                  <a:srgbClr val="222C39"/>
                </a:solidFill>
                <a:latin typeface="Aptos"/>
              </a:rPr>
              <a:t>• ML pipeline +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048255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 dirty="0">
                <a:solidFill>
                  <a:srgbClr val="222C39"/>
                </a:solidFill>
                <a:latin typeface="Aptos"/>
              </a:rPr>
              <a:t>• Runs on standard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359151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No new screening hardware needed for prototype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261872"/>
            <a:ext cx="2743200" cy="1481328"/>
          </a:xfrm>
          <a:prstGeom prst="roundRect">
            <a:avLst/>
          </a:prstGeom>
          <a:solidFill>
            <a:srgbClr val="EFF9F2"/>
          </a:solidFill>
          <a:ln>
            <a:solidFill>
              <a:srgbClr val="2F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6432" y="1371600"/>
            <a:ext cx="2450592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280" b="1">
                <a:solidFill>
                  <a:srgbClr val="2F8F52"/>
                </a:solidFill>
                <a:latin typeface="Aptos"/>
              </a:rPr>
              <a:t>DATA-READY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PS defines time-series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48255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0h / 24h / 96h / 168h checkpoints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59151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Designed to ingest organizer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261872"/>
            <a:ext cx="2743200" cy="1481328"/>
          </a:xfrm>
          <a:prstGeom prst="roundRect">
            <a:avLst/>
          </a:prstGeom>
          <a:solidFill>
            <a:srgbClr val="F5F1FC"/>
          </a:solidFill>
          <a:ln>
            <a:solidFill>
              <a:srgbClr val="5D4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371600"/>
            <a:ext cx="2450592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280" b="1">
                <a:solidFill>
                  <a:srgbClr val="5D439D"/>
                </a:solidFill>
                <a:latin typeface="Aptos"/>
              </a:rPr>
              <a:t>MODEL-READY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737360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Module A and B are independent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048255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Lightweight statistical + regression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359151"/>
            <a:ext cx="24231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Easy to test and benchmark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261872"/>
            <a:ext cx="2596896" cy="1481328"/>
          </a:xfrm>
          <a:prstGeom prst="roundRect">
            <a:avLst/>
          </a:prstGeom>
          <a:solidFill>
            <a:srgbClr val="FDF6EB"/>
          </a:solidFill>
          <a:ln>
            <a:solidFill>
              <a:srgbClr val="E7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81744" y="1371600"/>
            <a:ext cx="2304288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280" b="1">
                <a:solidFill>
                  <a:srgbClr val="E76919"/>
                </a:solidFill>
                <a:latin typeface="Aptos"/>
              </a:rPr>
              <a:t>DEPLOYABLE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1737360"/>
            <a:ext cx="2276856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CSV / telemetry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048255"/>
            <a:ext cx="2276856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Python ML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359151"/>
            <a:ext cx="2276856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19" b="0">
                <a:solidFill>
                  <a:srgbClr val="222C39"/>
                </a:solidFill>
                <a:latin typeface="Aptos"/>
              </a:rPr>
              <a:t>• QA dashboard +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907792"/>
            <a:ext cx="1133856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450" b="1">
                <a:solidFill>
                  <a:srgbClr val="11305B"/>
                </a:solidFill>
                <a:latin typeface="Aptos"/>
              </a:rPr>
              <a:t>IMPLEMENTATION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" y="3287269"/>
            <a:ext cx="239572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8368" y="3456432"/>
            <a:ext cx="347472" cy="347472"/>
          </a:xfrm>
          <a:prstGeom prst="ellipse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3511296"/>
            <a:ext cx="347472" cy="16459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38144"/>
            <a:ext cx="1682496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 dirty="0">
                <a:solidFill>
                  <a:srgbClr val="11305B"/>
                </a:solidFill>
                <a:latin typeface="Aptos"/>
              </a:rPr>
              <a:t>Development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94760"/>
            <a:ext cx="1682496" cy="43088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100" dirty="0">
                <a:solidFill>
                  <a:srgbClr val="222C3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Realistic aging </a:t>
            </a:r>
            <a:r>
              <a:rPr sz="1100" dirty="0" err="1">
                <a:solidFill>
                  <a:srgbClr val="222C3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behaviour</a:t>
            </a:r>
            <a:r>
              <a:rPr sz="1100" dirty="0">
                <a:solidFill>
                  <a:srgbClr val="222C3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
+ SIH-aligned test data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962656" y="3913632"/>
            <a:ext cx="347472" cy="0"/>
          </a:xfrm>
          <a:prstGeom prst="line">
            <a:avLst/>
          </a:prstGeom>
          <a:ln w="27940">
            <a:solidFill>
              <a:srgbClr val="1F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01568" y="3310128"/>
            <a:ext cx="239572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5D4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493008" y="3456432"/>
            <a:ext cx="347472" cy="347472"/>
          </a:xfrm>
          <a:prstGeom prst="ellipse">
            <a:avLst/>
          </a:prstGeom>
          <a:solidFill>
            <a:srgbClr val="5D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93008" y="3511296"/>
            <a:ext cx="347472" cy="16459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3446108"/>
            <a:ext cx="1664208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 dirty="0">
                <a:solidFill>
                  <a:srgbClr val="11305B"/>
                </a:solidFill>
                <a:latin typeface="Aptos"/>
              </a:rPr>
              <a:t>Train &amp; 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807172"/>
            <a:ext cx="1682496" cy="461665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dirty="0">
                <a:solidFill>
                  <a:srgbClr val="222C3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Lot-aware anomaly
+ 168h prediction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97296" y="3913632"/>
            <a:ext cx="347472" cy="0"/>
          </a:xfrm>
          <a:prstGeom prst="line">
            <a:avLst/>
          </a:prstGeom>
          <a:ln w="27940">
            <a:solidFill>
              <a:srgbClr val="1F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36208" y="3310128"/>
            <a:ext cx="239572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7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27648" y="3456432"/>
            <a:ext cx="347472" cy="347472"/>
          </a:xfrm>
          <a:prstGeom prst="ellipse">
            <a:avLst/>
          </a:prstGeom>
          <a:solidFill>
            <a:srgbClr val="E76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7648" y="3511296"/>
            <a:ext cx="347472" cy="16459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438144"/>
            <a:ext cx="1664208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 dirty="0">
                <a:solidFill>
                  <a:srgbClr val="11305B"/>
                </a:solidFill>
                <a:latin typeface="Aptos"/>
              </a:rPr>
              <a:t>Stress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3796863"/>
            <a:ext cx="1682496" cy="461665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dirty="0">
                <a:solidFill>
                  <a:srgbClr val="222C3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Noise • lot variation
• borderline defects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31936" y="3913632"/>
            <a:ext cx="347472" cy="0"/>
          </a:xfrm>
          <a:prstGeom prst="line">
            <a:avLst/>
          </a:prstGeom>
          <a:ln w="27940">
            <a:solidFill>
              <a:srgbClr val="1F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070848" y="3310128"/>
            <a:ext cx="239572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2F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162288" y="3456432"/>
            <a:ext cx="347472" cy="347472"/>
          </a:xfrm>
          <a:prstGeom prst="ellipse">
            <a:avLst/>
          </a:prstGeom>
          <a:solidFill>
            <a:srgbClr val="2F8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62288" y="3511296"/>
            <a:ext cx="347472" cy="16459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3438144"/>
            <a:ext cx="1664208" cy="307777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 dirty="0">
                <a:solidFill>
                  <a:srgbClr val="11305B"/>
                </a:solidFill>
                <a:latin typeface="Aptos"/>
              </a:rPr>
              <a:t>Deploy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82912" y="3768585"/>
            <a:ext cx="1682496" cy="461665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dirty="0">
                <a:solidFill>
                  <a:srgbClr val="222C39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Risk score →
PASS / HOLD / REJECT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7472" y="4736592"/>
            <a:ext cx="5532120" cy="1353312"/>
          </a:xfrm>
          <a:prstGeom prst="roundRect">
            <a:avLst/>
          </a:prstGeom>
          <a:solidFill>
            <a:srgbClr val="FDF1F2"/>
          </a:solidFill>
          <a:ln>
            <a:solidFill>
              <a:srgbClr val="CA3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0352" y="4855464"/>
            <a:ext cx="516636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350" b="1">
                <a:solidFill>
                  <a:srgbClr val="CA3439"/>
                </a:solidFill>
                <a:latin typeface="Aptos"/>
              </a:rPr>
              <a:t>KEY CHALLENGES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" y="5212080"/>
            <a:ext cx="5138928" cy="2011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80" b="0">
                <a:solidFill>
                  <a:srgbClr val="222C39"/>
                </a:solidFill>
                <a:latin typeface="Aptos"/>
              </a:rPr>
              <a:t>• Exact SIH evaluation data may be limited / hidden.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5422392"/>
            <a:ext cx="5138928" cy="2011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80" b="0">
                <a:solidFill>
                  <a:srgbClr val="222C39"/>
                </a:solidFill>
                <a:latin typeface="Aptos"/>
              </a:rPr>
              <a:t>• Lot-to-lot variation can defeat fixed thresholds.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5632704"/>
            <a:ext cx="5138928" cy="2011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80" b="0" dirty="0">
                <a:solidFill>
                  <a:srgbClr val="222C39"/>
                </a:solidFill>
                <a:latin typeface="Aptos"/>
              </a:rPr>
              <a:t>• False negatives are costly in high-reliability screening.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843016"/>
            <a:ext cx="5138928" cy="2011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80" b="0">
                <a:solidFill>
                  <a:srgbClr val="222C39"/>
                </a:solidFill>
                <a:latin typeface="Aptos"/>
              </a:rPr>
              <a:t>• Early data may not perfectly predict 168h behaviour.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44768" y="4736592"/>
            <a:ext cx="5669280" cy="1353312"/>
          </a:xfrm>
          <a:prstGeom prst="roundRect">
            <a:avLst/>
          </a:prstGeom>
          <a:solidFill>
            <a:srgbClr val="EFF9F2"/>
          </a:solidFill>
          <a:ln>
            <a:solidFill>
              <a:srgbClr val="2F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27648" y="4855464"/>
            <a:ext cx="5303520" cy="24688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350" b="1">
                <a:solidFill>
                  <a:srgbClr val="2F8F52"/>
                </a:solidFill>
                <a:latin typeface="Aptos"/>
              </a:rPr>
              <a:t>MITIGATION &amp; RISK CONTROL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5212080"/>
            <a:ext cx="5266944" cy="2011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80" b="0">
                <a:solidFill>
                  <a:srgbClr val="222C39"/>
                </a:solidFill>
                <a:latin typeface="Aptos"/>
              </a:rPr>
              <a:t>• Use external aging data only for development / method validation; never claim it as SIH ground truth.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5422392"/>
            <a:ext cx="5266944" cy="2011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80" b="0">
                <a:solidFill>
                  <a:srgbClr val="222C39"/>
                </a:solidFill>
                <a:latin typeface="Aptos"/>
              </a:rPr>
              <a:t>• Lot-relative robust statistics handle normal lot variation.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7648" y="5632704"/>
            <a:ext cx="5266944" cy="2011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80" b="0">
                <a:solidFill>
                  <a:srgbClr val="222C39"/>
                </a:solidFill>
                <a:latin typeface="Aptos"/>
              </a:rPr>
              <a:t>• Optimize recall and keep HOLD / REVIEW for uncertain cases.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7648" y="5843016"/>
            <a:ext cx="5266944" cy="2011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80" b="0">
                <a:solidFill>
                  <a:srgbClr val="222C39"/>
                </a:solidFill>
                <a:latin typeface="Aptos"/>
              </a:rPr>
              <a:t>• Use conservative prediction intervals around the 168h forecast.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83E4709-D182-4171-1A2A-EEEE686F3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2" name="Title 1">
            <a:extLst>
              <a:ext uri="{FF2B5EF4-FFF2-40B4-BE49-F238E27FC236}">
                <a16:creationId xmlns:a16="http://schemas.microsoft.com/office/drawing/2014/main" id="{414BA3BE-4D30-240F-C533-A286490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-11737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0BA7802-5415-1D28-0859-23FEAB15F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17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232383-037C-AD36-0997-ECF83C3D5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3984" y="-127177"/>
            <a:ext cx="1463536" cy="1463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803E85-7658-87B7-B3AD-7023510CE1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2" t="11992" r="678" b="19247"/>
          <a:stretch>
            <a:fillRect/>
          </a:stretch>
        </p:blipFill>
        <p:spPr>
          <a:xfrm>
            <a:off x="162064" y="1016103"/>
            <a:ext cx="11760305" cy="530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C2561E-6AD2-9EFF-61B2-B7E33D8CF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984" y="-127177"/>
            <a:ext cx="1463536" cy="1463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1170432"/>
            <a:ext cx="5504688" cy="4983480"/>
          </a:xfrm>
          <a:prstGeom prst="roundRect">
            <a:avLst/>
          </a:prstGeom>
          <a:solidFill>
            <a:srgbClr val="EFF7FE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4800600" cy="24160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50" b="1" dirty="0">
                <a:solidFill>
                  <a:srgbClr val="143056"/>
                </a:solidFill>
                <a:latin typeface="Aptos"/>
              </a:rPr>
              <a:t>🔗  KEY RESOURCES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665976"/>
            <a:ext cx="1828800" cy="10972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10" b="1" i="0">
                <a:solidFill>
                  <a:srgbClr val="FFFFFF"/>
                </a:solidFill>
                <a:latin typeface="Aptos"/>
              </a:rPr>
              <a:t>ODYYSIX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51960" y="6665976"/>
            <a:ext cx="2926080" cy="10972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ptos"/>
              </a:rPr>
              <a:t>SIH26170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0" y="6665976"/>
            <a:ext cx="4526280" cy="10972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650" b="0" i="0">
                <a:solidFill>
                  <a:srgbClr val="FFFFFF"/>
                </a:solidFill>
                <a:latin typeface="Aptos"/>
              </a:rPr>
              <a:t>SMART SCREENING • RELIABLE COMPONENTS • SAFER TOMORROW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44768" y="1170432"/>
            <a:ext cx="5632704" cy="4983480"/>
          </a:xfrm>
          <a:prstGeom prst="roundRect">
            <a:avLst/>
          </a:prstGeom>
          <a:solidFill>
            <a:srgbClr val="F1F9F7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91656" y="1371600"/>
            <a:ext cx="502920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50" b="1" i="0">
                <a:solidFill>
                  <a:srgbClr val="143056"/>
                </a:solidFill>
                <a:latin typeface="Aptos"/>
              </a:rPr>
              <a:t>📖  CITATIONS / REFERENCES</a:t>
            </a:r>
          </a:p>
        </p:txBody>
      </p:sp>
      <p:sp>
        <p:nvSpPr>
          <p:cNvPr id="77" name="Oval 76"/>
          <p:cNvSpPr/>
          <p:nvPr/>
        </p:nvSpPr>
        <p:spPr>
          <a:xfrm>
            <a:off x="6419088" y="1819656"/>
            <a:ext cx="393192" cy="393192"/>
          </a:xfrm>
          <a:prstGeom prst="ellipse">
            <a:avLst/>
          </a:prstGeom>
          <a:solidFill>
            <a:srgbClr val="23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67728" y="1792224"/>
            <a:ext cx="4407408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80" b="1" i="0">
                <a:solidFill>
                  <a:srgbClr val="143056"/>
                </a:solidFill>
                <a:latin typeface="Aptos"/>
              </a:rPr>
              <a:t>Celaya, J. R., Saxena, A., Saha, S., &amp; Goebel, K.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0" y="1998059"/>
            <a:ext cx="4434840" cy="2954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75" b="0" i="0" dirty="0">
                <a:solidFill>
                  <a:srgbClr val="586472"/>
                </a:solidFill>
                <a:latin typeface="Aptos"/>
              </a:rPr>
              <a:t>“</a:t>
            </a:r>
            <a:r>
              <a:rPr sz="900" b="0" i="0" dirty="0">
                <a:solidFill>
                  <a:srgbClr val="586472"/>
                </a:solidFill>
                <a:latin typeface="Aptos"/>
              </a:rPr>
              <a:t>Prognostics of Power MOSFETs under Thermal Stress Accelerated Aging using Data-Driven and Model-Based Methodologies,” Annual Conference of the PHM Society, 2011.</a:t>
            </a:r>
          </a:p>
        </p:txBody>
      </p:sp>
      <p:sp>
        <p:nvSpPr>
          <p:cNvPr id="80" name="Oval 79"/>
          <p:cNvSpPr/>
          <p:nvPr/>
        </p:nvSpPr>
        <p:spPr>
          <a:xfrm>
            <a:off x="6419088" y="2542032"/>
            <a:ext cx="393192" cy="393192"/>
          </a:xfrm>
          <a:prstGeom prst="ellipse">
            <a:avLst/>
          </a:prstGeom>
          <a:solidFill>
            <a:srgbClr val="4B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67728" y="2514600"/>
            <a:ext cx="4407408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80" b="1" i="0">
                <a:solidFill>
                  <a:srgbClr val="143056"/>
                </a:solidFill>
                <a:latin typeface="Aptos"/>
              </a:rPr>
              <a:t>Celaya, J. R., Saxena, A., Wysocki, P., Saha, S., &amp; Goebel, K.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54012" y="2711196"/>
            <a:ext cx="4434840" cy="2954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0" i="0" dirty="0">
                <a:solidFill>
                  <a:srgbClr val="586472"/>
                </a:solidFill>
                <a:latin typeface="Aptos"/>
              </a:rPr>
              <a:t>“Towards Prognostics of Power MOSFETs: Accelerated Aging and Precursors of Failure,” Annual Conference of the PHM Society, 2010.</a:t>
            </a:r>
          </a:p>
        </p:txBody>
      </p:sp>
      <p:sp>
        <p:nvSpPr>
          <p:cNvPr id="83" name="Oval 82"/>
          <p:cNvSpPr/>
          <p:nvPr/>
        </p:nvSpPr>
        <p:spPr>
          <a:xfrm>
            <a:off x="6419088" y="3264408"/>
            <a:ext cx="393192" cy="393192"/>
          </a:xfrm>
          <a:prstGeom prst="ellipse">
            <a:avLst/>
          </a:prstGeom>
          <a:solidFill>
            <a:srgbClr val="D37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67728" y="3236976"/>
            <a:ext cx="4407408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80" b="1" i="0" dirty="0">
                <a:solidFill>
                  <a:srgbClr val="143056"/>
                </a:solidFill>
                <a:latin typeface="Aptos"/>
              </a:rPr>
              <a:t>Chandola, V., Banerjee, A., &amp; Kumar, V.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54012" y="3438144"/>
            <a:ext cx="443484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0" i="0" dirty="0">
                <a:solidFill>
                  <a:srgbClr val="586472"/>
                </a:solidFill>
                <a:latin typeface="Aptos"/>
              </a:rPr>
              <a:t>“Anomaly Detection: A Survey,” ACM Computing Surveys, Vol. 41, No. 3, 2009.</a:t>
            </a:r>
          </a:p>
        </p:txBody>
      </p:sp>
      <p:sp>
        <p:nvSpPr>
          <p:cNvPr id="86" name="Oval 85"/>
          <p:cNvSpPr/>
          <p:nvPr/>
        </p:nvSpPr>
        <p:spPr>
          <a:xfrm>
            <a:off x="6448552" y="3917190"/>
            <a:ext cx="393192" cy="393192"/>
          </a:xfrm>
          <a:prstGeom prst="ellipse">
            <a:avLst/>
          </a:prstGeom>
          <a:solidFill>
            <a:srgbClr val="6C5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67728" y="3959352"/>
            <a:ext cx="4407408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80" b="1" i="0" dirty="0">
                <a:solidFill>
                  <a:srgbClr val="143056"/>
                </a:solidFill>
                <a:latin typeface="Aptos"/>
              </a:rPr>
              <a:t>Pedregosa, F., </a:t>
            </a:r>
            <a:r>
              <a:rPr sz="880" b="1" i="0" dirty="0" err="1">
                <a:solidFill>
                  <a:srgbClr val="143056"/>
                </a:solidFill>
                <a:latin typeface="Aptos"/>
              </a:rPr>
              <a:t>Varoquaux</a:t>
            </a:r>
            <a:r>
              <a:rPr sz="880" b="1" i="0" dirty="0">
                <a:solidFill>
                  <a:srgbClr val="143056"/>
                </a:solidFill>
                <a:latin typeface="Aptos"/>
              </a:rPr>
              <a:t>, G., </a:t>
            </a:r>
            <a:r>
              <a:rPr sz="880" b="1" i="0" dirty="0" err="1">
                <a:solidFill>
                  <a:srgbClr val="143056"/>
                </a:solidFill>
                <a:latin typeface="Aptos"/>
              </a:rPr>
              <a:t>Gramfort</a:t>
            </a:r>
            <a:r>
              <a:rPr sz="880" b="1" i="0" dirty="0">
                <a:solidFill>
                  <a:srgbClr val="143056"/>
                </a:solidFill>
                <a:latin typeface="Aptos"/>
              </a:rPr>
              <a:t>, A., et al.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40296" y="4151884"/>
            <a:ext cx="4434840" cy="2954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0" i="0" dirty="0">
                <a:solidFill>
                  <a:srgbClr val="586472"/>
                </a:solidFill>
                <a:latin typeface="Aptos"/>
              </a:rPr>
              <a:t>“Scikit-learn: Machine Learning in Python,” Journal of Machine Learning Research, Vol. 12, pp. 2825–2830, 2011.</a:t>
            </a:r>
          </a:p>
        </p:txBody>
      </p:sp>
      <p:sp>
        <p:nvSpPr>
          <p:cNvPr id="89" name="Oval 88"/>
          <p:cNvSpPr/>
          <p:nvPr/>
        </p:nvSpPr>
        <p:spPr>
          <a:xfrm>
            <a:off x="6419088" y="4608576"/>
            <a:ext cx="393192" cy="393192"/>
          </a:xfrm>
          <a:prstGeom prst="ellipse">
            <a:avLst/>
          </a:prstGeom>
          <a:solidFill>
            <a:srgbClr val="BC4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67728" y="4681728"/>
            <a:ext cx="4407408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80" b="1" i="0">
                <a:solidFill>
                  <a:srgbClr val="143056"/>
                </a:solidFill>
                <a:latin typeface="Aptos"/>
              </a:rPr>
              <a:t>Lundberg, S. M. &amp; Lee, S.-I.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40296" y="4865624"/>
            <a:ext cx="4434840" cy="2954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0" i="0" dirty="0">
                <a:solidFill>
                  <a:srgbClr val="586472"/>
                </a:solidFill>
                <a:latin typeface="Aptos"/>
              </a:rPr>
              <a:t>“A Unified Approach to Interpreting Model Predictions,” Advances in Neural Information Processing Systems (</a:t>
            </a:r>
            <a:r>
              <a:rPr sz="900" b="0" i="0" dirty="0" err="1">
                <a:solidFill>
                  <a:srgbClr val="586472"/>
                </a:solidFill>
                <a:latin typeface="Aptos"/>
              </a:rPr>
              <a:t>NeurIPS</a:t>
            </a:r>
            <a:r>
              <a:rPr sz="900" b="0" i="0" dirty="0">
                <a:solidFill>
                  <a:srgbClr val="586472"/>
                </a:solidFill>
                <a:latin typeface="Aptos"/>
              </a:rPr>
              <a:t>), 2017.</a:t>
            </a:r>
          </a:p>
        </p:txBody>
      </p:sp>
      <p:sp>
        <p:nvSpPr>
          <p:cNvPr id="92" name="Oval 91"/>
          <p:cNvSpPr/>
          <p:nvPr/>
        </p:nvSpPr>
        <p:spPr>
          <a:xfrm>
            <a:off x="6460236" y="5323332"/>
            <a:ext cx="393192" cy="393192"/>
          </a:xfrm>
          <a:prstGeom prst="ellipse">
            <a:avLst/>
          </a:prstGeom>
          <a:solidFill>
            <a:srgbClr val="14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67728" y="5404104"/>
            <a:ext cx="4407408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80" b="1" i="0">
                <a:solidFill>
                  <a:srgbClr val="143056"/>
                </a:solidFill>
                <a:latin typeface="Aptos"/>
              </a:rPr>
              <a:t>Saha, B. &amp; Goebel, K.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67728" y="5596335"/>
            <a:ext cx="4434840" cy="2954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0" i="0" dirty="0">
                <a:solidFill>
                  <a:srgbClr val="586472"/>
                </a:solidFill>
                <a:latin typeface="Aptos"/>
              </a:rPr>
              <a:t>“Model-Based and Data-Driven Prognostics of Power Electronics Devices,” NASA Prognostics Center of Excellence research, 2011.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40080" y="1728216"/>
            <a:ext cx="5047488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768096" y="1856231"/>
            <a:ext cx="384048" cy="384048"/>
          </a:xfrm>
          <a:prstGeom prst="ellipse">
            <a:avLst/>
          </a:prstGeom>
          <a:solidFill>
            <a:srgbClr val="23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07592" y="1792224"/>
            <a:ext cx="3291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40" b="1" u="none">
                <a:solidFill>
                  <a:srgbClr val="143056"/>
                </a:solidFill>
                <a:latin typeface="Aptos"/>
              </a:rPr>
              <a:t>NASA PCoE — IGBT Accelerated Aging Dataset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07592" y="2011680"/>
            <a:ext cx="3310128" cy="24468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735" b="1" u="none" dirty="0">
                <a:solidFill>
                  <a:srgbClr val="586472"/>
                </a:solidFill>
                <a:latin typeface="Aptos"/>
              </a:rPr>
              <a:t>Thermal-overstress aging data from 6 devices; electrical measurements for degradation analysis.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07592" y="2258568"/>
            <a:ext cx="43159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625" b="0" u="sng">
                <a:solidFill>
                  <a:srgbClr val="2369BE"/>
                </a:solidFill>
                <a:latin typeface="Aptos"/>
                <a:hlinkClick r:id="rId3"/>
              </a:rPr>
              <a:t>https://data.nasa.gov/dataset/insulated-gate-bipolar-transistor-igbt-accelerated-aging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080" y="2450592"/>
            <a:ext cx="5047488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68096" y="2578608"/>
            <a:ext cx="384048" cy="384048"/>
          </a:xfrm>
          <a:prstGeom prst="ellipse">
            <a:avLst/>
          </a:prstGeom>
          <a:solidFill>
            <a:srgbClr val="4B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07592" y="2514600"/>
            <a:ext cx="3291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40" b="1" u="none">
                <a:solidFill>
                  <a:srgbClr val="143056"/>
                </a:solidFill>
                <a:latin typeface="Aptos"/>
              </a:rPr>
              <a:t>NASA — MOSFET Thermal-Stress Aging Dataset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07592" y="2734056"/>
            <a:ext cx="3538728" cy="13157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735" b="1" u="none" dirty="0">
                <a:solidFill>
                  <a:srgbClr val="586472"/>
                </a:solidFill>
                <a:latin typeface="Aptos"/>
              </a:rPr>
              <a:t>Controlled accelerated aging with continuous degradation / run-to-failure data.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25880" y="2922016"/>
            <a:ext cx="43159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625" b="0" u="sng" dirty="0">
                <a:solidFill>
                  <a:srgbClr val="2369BE"/>
                </a:solidFill>
                <a:latin typeface="Aptos"/>
                <a:hlinkClick r:id="rId4"/>
              </a:rPr>
              <a:t>https://data.nasa.gov/dataset/prognostics-of-power-mosfets-under-thermal-stress-accelerated-aging-using-data-driven-and--3f82a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" y="3172968"/>
            <a:ext cx="5047488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68096" y="3300984"/>
            <a:ext cx="384048" cy="384048"/>
          </a:xfrm>
          <a:prstGeom prst="ellipse">
            <a:avLst/>
          </a:prstGeom>
          <a:solidFill>
            <a:srgbClr val="D37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07592" y="3236976"/>
            <a:ext cx="3291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40" b="1" u="none">
                <a:solidFill>
                  <a:srgbClr val="143056"/>
                </a:solidFill>
                <a:latin typeface="Aptos"/>
              </a:rPr>
              <a:t>NASA — Electrical Overstress &amp; Prognostics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07592" y="3456432"/>
            <a:ext cx="4151376" cy="13157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735" b="1" u="none" dirty="0">
                <a:solidFill>
                  <a:srgbClr val="586472"/>
                </a:solidFill>
                <a:latin typeface="Aptos"/>
              </a:rPr>
              <a:t>Accelerated aging, degradation modelling and future-state prediction for power MOSFETs.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89552" y="3631947"/>
            <a:ext cx="43159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625" b="0" u="sng" dirty="0">
                <a:solidFill>
                  <a:srgbClr val="2369BE"/>
                </a:solidFill>
                <a:latin typeface="Aptos"/>
                <a:hlinkClick r:id="rId5"/>
              </a:rPr>
              <a:t>https://data.nasa.gov/dataset/accelerated-aging-with-electrical-overstress-and-prognostics-for-power-mosfets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0080" y="3895344"/>
            <a:ext cx="5047488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023360"/>
            <a:ext cx="384048" cy="384048"/>
          </a:xfrm>
          <a:prstGeom prst="ellipse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07592" y="3959352"/>
            <a:ext cx="3291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40" b="1" u="none">
                <a:solidFill>
                  <a:srgbClr val="143056"/>
                </a:solidFill>
                <a:latin typeface="Aptos"/>
              </a:rPr>
              <a:t>NASA — PCoE Data Set Repository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07592" y="4178808"/>
            <a:ext cx="3904488" cy="13157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735" b="1" u="none" dirty="0">
                <a:solidFill>
                  <a:srgbClr val="586472"/>
                </a:solidFill>
                <a:latin typeface="Aptos"/>
              </a:rPr>
              <a:t>Prognostics and health-management datasets for algorithm development and validation.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07592" y="4343400"/>
            <a:ext cx="43159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625" b="0" u="sng" dirty="0">
                <a:solidFill>
                  <a:srgbClr val="2369BE"/>
                </a:solidFill>
                <a:latin typeface="Aptos"/>
                <a:hlinkClick r:id="rId6"/>
              </a:rPr>
              <a:t>https://www.nasa.gov/intelligent-systems-division/discovery-and-systems-health/pcoe/pcoe-data-set-repository/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40080" y="4617720"/>
            <a:ext cx="5047488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768096" y="4745736"/>
            <a:ext cx="384048" cy="384048"/>
          </a:xfrm>
          <a:prstGeom prst="ellipse">
            <a:avLst/>
          </a:prstGeom>
          <a:solidFill>
            <a:srgbClr val="6C5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07592" y="4681728"/>
            <a:ext cx="3291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40" b="1" u="none">
                <a:solidFill>
                  <a:srgbClr val="143056"/>
                </a:solidFill>
                <a:latin typeface="Aptos"/>
              </a:rPr>
              <a:t>scikit-learn — Outlier Detection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07592" y="4901184"/>
            <a:ext cx="3310128" cy="13157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735" b="1" u="none" dirty="0">
                <a:solidFill>
                  <a:srgbClr val="586472"/>
                </a:solidFill>
                <a:latin typeface="Aptos"/>
              </a:rPr>
              <a:t>Official documentation for outlier / novelty detection methods.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25880" y="5065776"/>
            <a:ext cx="43159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625" b="0" u="sng" dirty="0">
                <a:solidFill>
                  <a:srgbClr val="2369BE"/>
                </a:solidFill>
                <a:latin typeface="Aptos"/>
                <a:hlinkClick r:id="rId7"/>
              </a:rPr>
              <a:t>https://scikit-learn.org/stable/modules/outlier_detection.html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40080" y="5340096"/>
            <a:ext cx="5047488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768096" y="5468112"/>
            <a:ext cx="384048" cy="384048"/>
          </a:xfrm>
          <a:prstGeom prst="ellipse">
            <a:avLst/>
          </a:prstGeom>
          <a:solidFill>
            <a:srgbClr val="BC4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07592" y="5404104"/>
            <a:ext cx="3291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40" b="1" u="none" dirty="0">
                <a:solidFill>
                  <a:srgbClr val="143056"/>
                </a:solidFill>
                <a:latin typeface="Aptos"/>
              </a:rPr>
              <a:t>SHAP — Explainable AI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07592" y="5623560"/>
            <a:ext cx="3310128" cy="13157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735" b="1" u="none" dirty="0">
                <a:solidFill>
                  <a:srgbClr val="586472"/>
                </a:solidFill>
                <a:latin typeface="Aptos"/>
              </a:rPr>
              <a:t>Official documentation for feature-level explanations of ML predictions.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71600" y="5822713"/>
            <a:ext cx="43159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625" b="0" u="sng" dirty="0">
                <a:solidFill>
                  <a:srgbClr val="2369BE"/>
                </a:solidFill>
                <a:latin typeface="Aptos"/>
                <a:hlinkClick r:id="rId8"/>
              </a:rPr>
              <a:t>https://shap.readthedocs.io/en/latest/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94121-098B-FAFE-3E3D-4480240FE540}"/>
              </a:ext>
            </a:extLst>
          </p:cNvPr>
          <p:cNvSpPr txBox="1"/>
          <p:nvPr/>
        </p:nvSpPr>
        <p:spPr>
          <a:xfrm>
            <a:off x="3246120" y="226981"/>
            <a:ext cx="6036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  <a:endParaRPr lang="en-IN" sz="2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AF547B-FEB4-909C-B243-71098B818C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CD30074-370F-98CB-9D56-0E31EF015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23697</TotalTime>
  <Words>712</Words>
  <Application>Microsoft Macintosh PowerPoint</Application>
  <PresentationFormat>Widescreen</PresentationFormat>
  <Paragraphs>112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 </vt:lpstr>
      <vt:lpstr>TECHNICAL APPROACH</vt:lpstr>
      <vt:lpstr>FEASIBILITY AND VIABILITY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D - [CB.EN.U4ECE25057]</cp:lastModifiedBy>
  <cp:revision>157</cp:revision>
  <cp:lastPrinted>2026-08-30T11:01:31Z</cp:lastPrinted>
  <dcterms:created xsi:type="dcterms:W3CDTF">2013-12-12T18:46:50Z</dcterms:created>
  <dcterms:modified xsi:type="dcterms:W3CDTF">2026-09-14T09:56:52Z</dcterms:modified>
  <cp:category/>
</cp:coreProperties>
</file>