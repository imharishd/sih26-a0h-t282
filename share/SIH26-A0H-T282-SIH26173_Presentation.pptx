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72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nakers4/silero-vad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github.com/AI4Bharat/Indic-T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voice.mozilla.org/data" TargetMode="External"/><Relationship Id="rId11" Type="http://schemas.openxmlformats.org/officeDocument/2006/relationships/image" Target="../media/image5.jpeg"/><Relationship Id="rId5" Type="http://schemas.openxmlformats.org/officeDocument/2006/relationships/hyperlink" Target="https://github.com/AI4Bharat/IndicConformerASR" TargetMode="External"/><Relationship Id="rId10" Type="http://schemas.openxmlformats.org/officeDocument/2006/relationships/hyperlink" Target="https://developer.android.com/develop/connectivity/wifi/wifi-direct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developer.android.com/ai/cust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8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41382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18671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7714" y="1250551"/>
            <a:ext cx="11329773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26173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iTantra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-Indian Multilingual TTS&amp; STT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Aided Neural Transceiver Radio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Access for low bitrate links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 - 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2400" b="1" dirty="0"/>
              <a:t>SIH26-A0H-T282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Odyysix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15365">
            <a:extLst>
              <a:ext uri="{FF2B5EF4-FFF2-40B4-BE49-F238E27FC236}">
                <a16:creationId xmlns:a16="http://schemas.microsoft.com/office/drawing/2014/main" id="{58D13AEA-4D24-2DB3-00A1-91145AE9E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852"/>
          <a:stretch>
            <a:fillRect/>
          </a:stretch>
        </p:blipFill>
        <p:spPr>
          <a:xfrm>
            <a:off x="8330807" y="3390369"/>
            <a:ext cx="2898558" cy="2762785"/>
          </a:xfrm>
          <a:prstGeom prst="rect">
            <a:avLst/>
          </a:prstGeom>
        </p:spPr>
      </p:pic>
      <p:pic>
        <p:nvPicPr>
          <p:cNvPr id="15364" name="Picture 15363">
            <a:extLst>
              <a:ext uri="{FF2B5EF4-FFF2-40B4-BE49-F238E27FC236}">
                <a16:creationId xmlns:a16="http://schemas.microsoft.com/office/drawing/2014/main" id="{CE3804D0-3CF5-4C50-195B-7BD17E6BE1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528"/>
          <a:stretch>
            <a:fillRect/>
          </a:stretch>
        </p:blipFill>
        <p:spPr>
          <a:xfrm>
            <a:off x="375476" y="3355602"/>
            <a:ext cx="7476724" cy="2854168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lang="en-IN" sz="3600" b="1" dirty="0"/>
              <a:t> </a:t>
            </a:r>
            <a:br>
              <a:rPr lang="en-IN" sz="3600" b="1" dirty="0"/>
            </a:br>
            <a:endParaRPr lang="en-US" sz="2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561180" y="955148"/>
            <a:ext cx="1219199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20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08EFB24-513E-A260-3705-F1C15FC758F2}"/>
              </a:ext>
            </a:extLst>
          </p:cNvPr>
          <p:cNvSpPr txBox="1"/>
          <p:nvPr/>
        </p:nvSpPr>
        <p:spPr>
          <a:xfrm>
            <a:off x="457200" y="1755275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EB7337"/>
                </a:solidFill>
                <a:latin typeface="Arial"/>
              </a:rPr>
              <a:t>PROBLEM AT HAND</a:t>
            </a:r>
          </a:p>
        </p:txBody>
      </p:sp>
      <p:sp>
        <p:nvSpPr>
          <p:cNvPr id="34" name="Rounded Rectangle 15364">
            <a:extLst>
              <a:ext uri="{FF2B5EF4-FFF2-40B4-BE49-F238E27FC236}">
                <a16:creationId xmlns:a16="http://schemas.microsoft.com/office/drawing/2014/main" id="{C7A3C63F-AD7B-58A2-FB83-2A84D980D268}"/>
              </a:ext>
            </a:extLst>
          </p:cNvPr>
          <p:cNvSpPr/>
          <p:nvPr/>
        </p:nvSpPr>
        <p:spPr>
          <a:xfrm>
            <a:off x="420624" y="2185043"/>
            <a:ext cx="3520440" cy="1115568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3E0CB6-9C06-EE4F-3A75-4230E9D2B239}"/>
              </a:ext>
            </a:extLst>
          </p:cNvPr>
          <p:cNvSpPr txBox="1"/>
          <p:nvPr/>
        </p:nvSpPr>
        <p:spPr>
          <a:xfrm>
            <a:off x="557784" y="2294771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68AA"/>
                </a:solidFill>
                <a:latin typeface="Arial"/>
              </a:rPr>
              <a:t>DATA-HUNGRY AUDIO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109E9B-A7B7-CE07-4690-2AC62E01707E}"/>
              </a:ext>
            </a:extLst>
          </p:cNvPr>
          <p:cNvSpPr txBox="1"/>
          <p:nvPr/>
        </p:nvSpPr>
        <p:spPr>
          <a:xfrm>
            <a:off x="585216" y="2614811"/>
            <a:ext cx="31912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9232D"/>
                </a:solidFill>
                <a:latin typeface="Arial"/>
              </a:rPr>
              <a:t>Continuous voice is difficult to transmit over low-data-rate links.</a:t>
            </a:r>
          </a:p>
        </p:txBody>
      </p:sp>
      <p:sp>
        <p:nvSpPr>
          <p:cNvPr id="37" name="Rounded Rectangle 15367">
            <a:extLst>
              <a:ext uri="{FF2B5EF4-FFF2-40B4-BE49-F238E27FC236}">
                <a16:creationId xmlns:a16="http://schemas.microsoft.com/office/drawing/2014/main" id="{8D0F326B-CCA4-81DB-06F5-014F2383FD84}"/>
              </a:ext>
            </a:extLst>
          </p:cNvPr>
          <p:cNvSpPr/>
          <p:nvPr/>
        </p:nvSpPr>
        <p:spPr>
          <a:xfrm>
            <a:off x="4206240" y="2185043"/>
            <a:ext cx="3520440" cy="1115568"/>
          </a:xfrm>
          <a:prstGeom prst="roundRect">
            <a:avLst/>
          </a:prstGeom>
          <a:solidFill>
            <a:srgbClr val="EBF6FC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E1C5D1-ED91-4E98-81BB-4193488000F1}"/>
              </a:ext>
            </a:extLst>
          </p:cNvPr>
          <p:cNvSpPr txBox="1"/>
          <p:nvPr/>
        </p:nvSpPr>
        <p:spPr>
          <a:xfrm>
            <a:off x="4343400" y="2294771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68AA"/>
                </a:solidFill>
                <a:latin typeface="Arial"/>
              </a:rPr>
              <a:t>VOICE IS CRITICAL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5B5CC5-1A59-5342-4A03-00A79E7E1B0E}"/>
              </a:ext>
            </a:extLst>
          </p:cNvPr>
          <p:cNvSpPr txBox="1"/>
          <p:nvPr/>
        </p:nvSpPr>
        <p:spPr>
          <a:xfrm>
            <a:off x="4370831" y="2614811"/>
            <a:ext cx="31912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9232D"/>
                </a:solidFill>
                <a:latin typeface="Arial"/>
              </a:rPr>
              <a:t>In alert/distress situations, voice is more inclusive than relying only on written messages.</a:t>
            </a:r>
          </a:p>
        </p:txBody>
      </p:sp>
      <p:sp>
        <p:nvSpPr>
          <p:cNvPr id="40" name="Rounded Rectangle 15370">
            <a:extLst>
              <a:ext uri="{FF2B5EF4-FFF2-40B4-BE49-F238E27FC236}">
                <a16:creationId xmlns:a16="http://schemas.microsoft.com/office/drawing/2014/main" id="{84675FD8-8E6F-0728-C58C-7BB2784B7EEA}"/>
              </a:ext>
            </a:extLst>
          </p:cNvPr>
          <p:cNvSpPr/>
          <p:nvPr/>
        </p:nvSpPr>
        <p:spPr>
          <a:xfrm>
            <a:off x="7991855" y="2185043"/>
            <a:ext cx="3520440" cy="1115568"/>
          </a:xfrm>
          <a:prstGeom prst="roundRect">
            <a:avLst/>
          </a:prstGeom>
          <a:solidFill>
            <a:srgbClr val="ECF8EF"/>
          </a:solidFill>
          <a:ln w="15240">
            <a:solidFill>
              <a:srgbClr val="CD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9A13AE-7798-DDBE-294F-E1EE1DAB398B}"/>
              </a:ext>
            </a:extLst>
          </p:cNvPr>
          <p:cNvSpPr txBox="1"/>
          <p:nvPr/>
        </p:nvSpPr>
        <p:spPr>
          <a:xfrm>
            <a:off x="8129016" y="2294771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68AA"/>
                </a:solidFill>
                <a:latin typeface="Arial"/>
              </a:rPr>
              <a:t>OFFLINE REQUIREMENT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FE4EAB-D5BB-B203-34AD-CE309212C586}"/>
              </a:ext>
            </a:extLst>
          </p:cNvPr>
          <p:cNvSpPr txBox="1"/>
          <p:nvPr/>
        </p:nvSpPr>
        <p:spPr>
          <a:xfrm>
            <a:off x="8156447" y="2614811"/>
            <a:ext cx="31912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9232D"/>
                </a:solidFill>
                <a:latin typeface="Arial"/>
              </a:rPr>
              <a:t>Remote environments cannot depend on internet-hosted STT/TTS APIs.</a:t>
            </a:r>
          </a:p>
        </p:txBody>
      </p:sp>
      <p:sp>
        <p:nvSpPr>
          <p:cNvPr id="15360" name="Rectangle 15359">
            <a:extLst>
              <a:ext uri="{FF2B5EF4-FFF2-40B4-BE49-F238E27FC236}">
                <a16:creationId xmlns:a16="http://schemas.microsoft.com/office/drawing/2014/main" id="{4299DC9E-B7F5-94C6-52D2-196B3120A330}"/>
              </a:ext>
            </a:extLst>
          </p:cNvPr>
          <p:cNvSpPr/>
          <p:nvPr/>
        </p:nvSpPr>
        <p:spPr>
          <a:xfrm>
            <a:off x="237743" y="1519023"/>
            <a:ext cx="11716512" cy="46093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368" name="Picture 15367">
            <a:extLst>
              <a:ext uri="{FF2B5EF4-FFF2-40B4-BE49-F238E27FC236}">
                <a16:creationId xmlns:a16="http://schemas.microsoft.com/office/drawing/2014/main" id="{4040F548-33B9-74B6-0A75-4F43406EC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3984" y="-127177"/>
            <a:ext cx="1463536" cy="14635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99E919-1CA9-71E9-306F-95C187CB2678}"/>
              </a:ext>
            </a:extLst>
          </p:cNvPr>
          <p:cNvSpPr txBox="1"/>
          <p:nvPr/>
        </p:nvSpPr>
        <p:spPr>
          <a:xfrm>
            <a:off x="1907056" y="89995"/>
            <a:ext cx="78730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iTantra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-Indian Multilingual TTS  &amp; STT Aided </a:t>
            </a:r>
          </a:p>
          <a:p>
            <a:pPr algn="just"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Transceiver Radio Access for low bitrate links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Rounded Rectangle 37">
            <a:extLst>
              <a:ext uri="{FF2B5EF4-FFF2-40B4-BE49-F238E27FC236}">
                <a16:creationId xmlns:a16="http://schemas.microsoft.com/office/drawing/2014/main" id="{E4EB0D69-5251-BF8B-6277-E9B9150A0966}"/>
              </a:ext>
            </a:extLst>
          </p:cNvPr>
          <p:cNvSpPr/>
          <p:nvPr/>
        </p:nvSpPr>
        <p:spPr>
          <a:xfrm>
            <a:off x="329773" y="1402458"/>
            <a:ext cx="3566160" cy="22582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573CEF-3F1B-1F04-9FFE-F06067AF9D6C}"/>
              </a:ext>
            </a:extLst>
          </p:cNvPr>
          <p:cNvSpPr txBox="1"/>
          <p:nvPr/>
        </p:nvSpPr>
        <p:spPr>
          <a:xfrm>
            <a:off x="466933" y="1486665"/>
            <a:ext cx="3291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177BE"/>
                </a:solidFill>
                <a:latin typeface="Aptos"/>
              </a:rPr>
              <a:t>ON-DEVICE AI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61C56-B566-F73F-B384-D82BE0448289}"/>
              </a:ext>
            </a:extLst>
          </p:cNvPr>
          <p:cNvSpPr txBox="1"/>
          <p:nvPr/>
        </p:nvSpPr>
        <p:spPr>
          <a:xfrm>
            <a:off x="558373" y="1953009"/>
            <a:ext cx="310896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lang="en-IN" sz="1300" dirty="0"/>
              <a:t>• Open-source STT/TTS pipeline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lang="en-IN" sz="1300" dirty="0"/>
              <a:t>• Local inference — no hosted speech API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lang="en-IN" sz="1300" dirty="0"/>
              <a:t>• Model optimization for low-/mid-range Android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lang="en-IN" sz="1300" dirty="0"/>
              <a:t>• Target: low STT Word Error Rate + intelligible TTS</a:t>
            </a:r>
          </a:p>
        </p:txBody>
      </p:sp>
      <p:sp>
        <p:nvSpPr>
          <p:cNvPr id="18" name="Rounded Rectangle 40">
            <a:extLst>
              <a:ext uri="{FF2B5EF4-FFF2-40B4-BE49-F238E27FC236}">
                <a16:creationId xmlns:a16="http://schemas.microsoft.com/office/drawing/2014/main" id="{397C94B3-84FE-BD6E-E3AB-9BBA1383D0F1}"/>
              </a:ext>
            </a:extLst>
          </p:cNvPr>
          <p:cNvSpPr/>
          <p:nvPr/>
        </p:nvSpPr>
        <p:spPr>
          <a:xfrm>
            <a:off x="329773" y="3917481"/>
            <a:ext cx="3566160" cy="21367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089744-65A3-22F7-ECC8-8E101F77082A}"/>
              </a:ext>
            </a:extLst>
          </p:cNvPr>
          <p:cNvSpPr txBox="1"/>
          <p:nvPr/>
        </p:nvSpPr>
        <p:spPr>
          <a:xfrm>
            <a:off x="466933" y="4045497"/>
            <a:ext cx="3291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2965B"/>
                </a:solidFill>
                <a:latin typeface="Aptos"/>
              </a:rPr>
              <a:t>COMMUNICATION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B720B7-F1D6-BF85-58AD-BE11FAB78B22}"/>
              </a:ext>
            </a:extLst>
          </p:cNvPr>
          <p:cNvSpPr txBox="1"/>
          <p:nvPr/>
        </p:nvSpPr>
        <p:spPr>
          <a:xfrm>
            <a:off x="558373" y="4482921"/>
            <a:ext cx="3108960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300" dirty="0"/>
              <a:t>• Convert speech to compact text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300" dirty="0"/>
              <a:t>• Packetize and transmit sentence data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300" dirty="0"/>
              <a:t>• Bluetooth / Wi-Fi Direct for local demo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300" dirty="0"/>
              <a:t>• Modular interface for low-bitrate links</a:t>
            </a:r>
          </a:p>
        </p:txBody>
      </p:sp>
      <p:pic>
        <p:nvPicPr>
          <p:cNvPr id="17451" name="Picture 17450">
            <a:extLst>
              <a:ext uri="{FF2B5EF4-FFF2-40B4-BE49-F238E27FC236}">
                <a16:creationId xmlns:a16="http://schemas.microsoft.com/office/drawing/2014/main" id="{18AE9CB4-17BE-2FE4-95B9-2C481BE582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00" r="6355" b="39456"/>
          <a:stretch>
            <a:fillRect/>
          </a:stretch>
        </p:blipFill>
        <p:spPr>
          <a:xfrm>
            <a:off x="3987372" y="1617255"/>
            <a:ext cx="8067467" cy="3652711"/>
          </a:xfrm>
          <a:prstGeom prst="rect">
            <a:avLst/>
          </a:prstGeom>
        </p:spPr>
      </p:pic>
      <p:pic>
        <p:nvPicPr>
          <p:cNvPr id="17455" name="Picture 17454">
            <a:extLst>
              <a:ext uri="{FF2B5EF4-FFF2-40B4-BE49-F238E27FC236}">
                <a16:creationId xmlns:a16="http://schemas.microsoft.com/office/drawing/2014/main" id="{68C0A2C0-952C-480F-4B2C-915F78587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3984" y="-127177"/>
            <a:ext cx="1463536" cy="14635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EF9BF54-D1C1-475D-0C2E-8219B592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3984" y="-127177"/>
            <a:ext cx="1463536" cy="1463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906F3324-A8F2-1DB5-62C4-FD27A6823DB9}"/>
              </a:ext>
            </a:extLst>
          </p:cNvPr>
          <p:cNvSpPr/>
          <p:nvPr/>
        </p:nvSpPr>
        <p:spPr>
          <a:xfrm>
            <a:off x="411480" y="1143000"/>
            <a:ext cx="5486400" cy="2331720"/>
          </a:xfrm>
          <a:prstGeom prst="roundRect">
            <a:avLst/>
          </a:prstGeom>
          <a:solidFill>
            <a:srgbClr val="EBF6FC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A917A-D163-7DBD-D063-76EBCD8A5494}"/>
              </a:ext>
            </a:extLst>
          </p:cNvPr>
          <p:cNvSpPr txBox="1"/>
          <p:nvPr/>
        </p:nvSpPr>
        <p:spPr>
          <a:xfrm>
            <a:off x="548640" y="1261872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177BE"/>
                </a:solidFill>
                <a:latin typeface="Aptos"/>
              </a:rPr>
              <a:t>TECHNICAL FEASIBILITY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1811B-86CF-30AE-D4D6-A5C322A2E0C7}"/>
              </a:ext>
            </a:extLst>
          </p:cNvPr>
          <p:cNvSpPr txBox="1"/>
          <p:nvPr/>
        </p:nvSpPr>
        <p:spPr>
          <a:xfrm>
            <a:off x="640080" y="1691640"/>
            <a:ext cx="5029200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Android application can host optimized open-source speech models.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Offline inference directly satisfies the PS requirement.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Bluetooth / Wi-Fi Direct provides a practical two-phone demonstration path.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Prototype can be built incrementally: 1–2 languages → full language set.</a:t>
            </a:r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C97C6DE5-80E0-B59C-AD28-A2C6555D9C63}"/>
              </a:ext>
            </a:extLst>
          </p:cNvPr>
          <p:cNvSpPr/>
          <p:nvPr/>
        </p:nvSpPr>
        <p:spPr>
          <a:xfrm>
            <a:off x="6144768" y="1143000"/>
            <a:ext cx="5623560" cy="2331720"/>
          </a:xfrm>
          <a:prstGeom prst="roundRect">
            <a:avLst/>
          </a:prstGeom>
          <a:solidFill>
            <a:srgbClr val="EBF8E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520304-C944-7D17-CB7A-EC704B0CF3E2}"/>
              </a:ext>
            </a:extLst>
          </p:cNvPr>
          <p:cNvSpPr txBox="1"/>
          <p:nvPr/>
        </p:nvSpPr>
        <p:spPr>
          <a:xfrm>
            <a:off x="6281928" y="1261872"/>
            <a:ext cx="5349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2965B"/>
                </a:solidFill>
                <a:latin typeface="Aptos"/>
              </a:rPr>
              <a:t>RESOURCE FEASIBILITY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5F06F2-DF4B-8365-E624-C89859FDEE34}"/>
              </a:ext>
            </a:extLst>
          </p:cNvPr>
          <p:cNvSpPr txBox="1"/>
          <p:nvPr/>
        </p:nvSpPr>
        <p:spPr>
          <a:xfrm>
            <a:off x="6373368" y="1691640"/>
            <a:ext cx="516636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Use lightweight models and optimize memory/CPU footprint.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Sentence-level text transmission greatly reduces payload compared with raw audio.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Use asynchronous STT → transmission → TTS to reduce perceived delay.</a:t>
            </a: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FF336534-FA98-2F26-A98E-5787C1D2996D}"/>
              </a:ext>
            </a:extLst>
          </p:cNvPr>
          <p:cNvSpPr/>
          <p:nvPr/>
        </p:nvSpPr>
        <p:spPr>
          <a:xfrm>
            <a:off x="411480" y="3675887"/>
            <a:ext cx="5486400" cy="2331720"/>
          </a:xfrm>
          <a:prstGeom prst="roundRect">
            <a:avLst/>
          </a:prstGeom>
          <a:solidFill>
            <a:srgbClr val="FFF1E7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89733E-D056-04C8-7C2E-EB8D24C86D50}"/>
              </a:ext>
            </a:extLst>
          </p:cNvPr>
          <p:cNvSpPr txBox="1"/>
          <p:nvPr/>
        </p:nvSpPr>
        <p:spPr>
          <a:xfrm>
            <a:off x="548640" y="3794759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7F36"/>
                </a:solidFill>
                <a:latin typeface="Aptos"/>
              </a:rPr>
              <a:t>KEY CHALLENGES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F3FC51-887A-C837-3B6E-A7FA254A3B9B}"/>
              </a:ext>
            </a:extLst>
          </p:cNvPr>
          <p:cNvSpPr txBox="1"/>
          <p:nvPr/>
        </p:nvSpPr>
        <p:spPr>
          <a:xfrm>
            <a:off x="640080" y="4224527"/>
            <a:ext cx="5029200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STT accuracy across Indian languages, accents and noisy environments.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Model size and CPU/RAM limits on low- and mid-range phones.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Low end-to-end latency while maintaining intelligibility.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Reliable packet handling when the communication link is constrained.</a:t>
            </a:r>
          </a:p>
        </p:txBody>
      </p: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401A0546-A3A2-3F91-A1F0-ACB16CBB058E}"/>
              </a:ext>
            </a:extLst>
          </p:cNvPr>
          <p:cNvSpPr/>
          <p:nvPr/>
        </p:nvSpPr>
        <p:spPr>
          <a:xfrm>
            <a:off x="6144768" y="3675887"/>
            <a:ext cx="5623560" cy="233172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3D8863-42F8-7B11-23B2-6079595C7934}"/>
              </a:ext>
            </a:extLst>
          </p:cNvPr>
          <p:cNvSpPr txBox="1"/>
          <p:nvPr/>
        </p:nvSpPr>
        <p:spPr>
          <a:xfrm>
            <a:off x="6281928" y="3794759"/>
            <a:ext cx="5349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72D54"/>
                </a:solidFill>
                <a:latin typeface="Aptos"/>
              </a:rPr>
              <a:t>MITIGATION PLAN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CFDF24-D6C7-8C80-643A-0829B73537AD}"/>
              </a:ext>
            </a:extLst>
          </p:cNvPr>
          <p:cNvSpPr txBox="1"/>
          <p:nvPr/>
        </p:nvSpPr>
        <p:spPr>
          <a:xfrm>
            <a:off x="6373368" y="4224527"/>
            <a:ext cx="516636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Quantization / lightweight inference and model profiling.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Voice Activity Detection + pause-based sentence formation.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Streaming/incremental processing where supported.</a:t>
            </a:r>
          </a:p>
          <a:p>
            <a:pPr>
              <a:spcAft>
                <a:spcPts val="500"/>
              </a:spcAft>
              <a:defRPr sz="1100">
                <a:solidFill>
                  <a:srgbClr val="1C232B"/>
                </a:solidFill>
                <a:latin typeface="Aptos"/>
              </a:defRPr>
            </a:pPr>
            <a:r>
              <a:rPr sz="1400" dirty="0"/>
              <a:t>• Buffering, packet framing and recovery for the communication layer.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32383-037C-AD36-0997-ECF83C3D5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3984" y="-127177"/>
            <a:ext cx="1463536" cy="14635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8B93E-0AB8-970C-A2D7-2FCAA4719F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740" b="5185"/>
          <a:stretch>
            <a:fillRect/>
          </a:stretch>
        </p:blipFill>
        <p:spPr>
          <a:xfrm>
            <a:off x="1158262" y="1063837"/>
            <a:ext cx="9875474" cy="51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3A451E-ECE8-8AFC-9EB0-BD3CC88C652A}"/>
              </a:ext>
            </a:extLst>
          </p:cNvPr>
          <p:cNvSpPr txBox="1"/>
          <p:nvPr/>
        </p:nvSpPr>
        <p:spPr>
          <a:xfrm>
            <a:off x="5594326" y="2303464"/>
            <a:ext cx="5665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R. Rabiner and R. W. Schafer,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Processing of Speech Signals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Prentice-Hall, 1978.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R. Rabiner and B. H. Juang,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Speech Recognition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Prentice Hall, 1993.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AI4Bharat,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IndicConformer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Conformer-based ASR for Indian Languages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Sankar et al.,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IndicVoices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-R: Unlocking a Massive Multilingual Multi-speaker Speech Corpus for Scaling Indian TTS,”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 Datasets and Benchmarks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</a:t>
            </a: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2AC94-63BC-918A-F8B7-B88951689032}"/>
              </a:ext>
            </a:extLst>
          </p:cNvPr>
          <p:cNvSpPr txBox="1"/>
          <p:nvPr/>
        </p:nvSpPr>
        <p:spPr>
          <a:xfrm>
            <a:off x="5594326" y="1979503"/>
            <a:ext cx="2065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📖 REFERENCES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218DB1-3D9B-AC85-8746-0EF48A4D5C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009"/>
          <a:stretch>
            <a:fillRect/>
          </a:stretch>
        </p:blipFill>
        <p:spPr>
          <a:xfrm>
            <a:off x="474117" y="1174927"/>
            <a:ext cx="4682836" cy="46230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7" name="Rectangle 16">
            <a:hlinkClick r:id="rId5"/>
            <a:extLst>
              <a:ext uri="{FF2B5EF4-FFF2-40B4-BE49-F238E27FC236}">
                <a16:creationId xmlns:a16="http://schemas.microsoft.com/office/drawing/2014/main" id="{BBE4A0A0-8BB9-660E-3A7C-7A6FB9A35782}"/>
              </a:ext>
            </a:extLst>
          </p:cNvPr>
          <p:cNvSpPr/>
          <p:nvPr/>
        </p:nvSpPr>
        <p:spPr>
          <a:xfrm>
            <a:off x="1293318" y="1817702"/>
            <a:ext cx="3044434" cy="1160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u="sng" dirty="0">
                <a:solidFill>
                  <a:srgbClr val="1066B4"/>
                </a:solidFill>
                <a:latin typeface="Arial"/>
                <a:hlinkClick r:id="rId5"/>
              </a:rPr>
              <a:t>https://github.com/AI4Bharat/IndicConformerASR</a:t>
            </a:r>
          </a:p>
        </p:txBody>
      </p:sp>
      <p:sp>
        <p:nvSpPr>
          <p:cNvPr id="18" name="Rectangle 17">
            <a:hlinkClick r:id="rId6"/>
            <a:extLst>
              <a:ext uri="{FF2B5EF4-FFF2-40B4-BE49-F238E27FC236}">
                <a16:creationId xmlns:a16="http://schemas.microsoft.com/office/drawing/2014/main" id="{B03C6B96-AE08-D189-DD27-20A882ED6A71}"/>
              </a:ext>
            </a:extLst>
          </p:cNvPr>
          <p:cNvSpPr/>
          <p:nvPr/>
        </p:nvSpPr>
        <p:spPr>
          <a:xfrm>
            <a:off x="1293318" y="2600756"/>
            <a:ext cx="2502593" cy="1370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u="sng" dirty="0">
                <a:solidFill>
                  <a:srgbClr val="1066B4"/>
                </a:solidFill>
                <a:latin typeface="Arial"/>
                <a:hlinkClick r:id="rId7"/>
              </a:rPr>
              <a:t>https://github.com/AI4Bharat/Indic-TTS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6B694-5426-89BF-932C-389C64B30394}"/>
              </a:ext>
            </a:extLst>
          </p:cNvPr>
          <p:cNvSpPr txBox="1"/>
          <p:nvPr/>
        </p:nvSpPr>
        <p:spPr>
          <a:xfrm>
            <a:off x="1293318" y="3318211"/>
            <a:ext cx="2553394" cy="2509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u="sng" dirty="0">
                <a:solidFill>
                  <a:srgbClr val="1066B4"/>
                </a:solidFill>
                <a:latin typeface="Arial"/>
                <a:hlinkClick r:id="rId6"/>
              </a:rPr>
              <a:t>https://commonvoice.mozilla.org/data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3A5941-4019-9FE1-3DD7-9771277B783A}"/>
              </a:ext>
            </a:extLst>
          </p:cNvPr>
          <p:cNvSpPr txBox="1"/>
          <p:nvPr/>
        </p:nvSpPr>
        <p:spPr>
          <a:xfrm>
            <a:off x="1293318" y="4097403"/>
            <a:ext cx="4617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u="sng" dirty="0">
                <a:solidFill>
                  <a:srgbClr val="1066B4"/>
                </a:solidFill>
                <a:latin typeface="Arial"/>
                <a:hlinkClick r:id="rId8"/>
              </a:rPr>
              <a:t>https://github.com/snakers4/silero-vad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0F5E99-C048-962D-19D6-4ADDC669563F}"/>
              </a:ext>
            </a:extLst>
          </p:cNvPr>
          <p:cNvSpPr txBox="1"/>
          <p:nvPr/>
        </p:nvSpPr>
        <p:spPr>
          <a:xfrm>
            <a:off x="1293318" y="4834158"/>
            <a:ext cx="4617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u="sng" dirty="0">
                <a:solidFill>
                  <a:srgbClr val="1066B4"/>
                </a:solidFill>
                <a:latin typeface="Arial"/>
                <a:hlinkClick r:id="rId9"/>
              </a:rPr>
              <a:t>https://developer.android.com/ai/custom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4C52F0-3DEF-42E8-83DC-F92D2B21FB31}"/>
              </a:ext>
            </a:extLst>
          </p:cNvPr>
          <p:cNvSpPr txBox="1"/>
          <p:nvPr/>
        </p:nvSpPr>
        <p:spPr>
          <a:xfrm>
            <a:off x="1293318" y="5570914"/>
            <a:ext cx="4617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u="sng" dirty="0">
                <a:solidFill>
                  <a:srgbClr val="1066B4"/>
                </a:solidFill>
                <a:latin typeface="Arial"/>
                <a:hlinkClick r:id="rId10"/>
              </a:rPr>
              <a:t>https://developer.android.com/develop/connectivity/wifi/wifi-direct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A68B02E-8813-98E9-66BA-39F40694029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11434" b="16466"/>
          <a:stretch>
            <a:fillRect/>
          </a:stretch>
        </p:blipFill>
        <p:spPr>
          <a:xfrm>
            <a:off x="-173984" y="-127177"/>
            <a:ext cx="1296202" cy="1222552"/>
          </a:xfrm>
          <a:prstGeom prst="rect">
            <a:avLst/>
          </a:prstGeom>
          <a:pattFill prst="pct5">
            <a:fgClr>
              <a:srgbClr val="FFFFFF"/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13243</TotalTime>
  <Words>550</Words>
  <Application>Microsoft Macintosh PowerPoint</Application>
  <PresentationFormat>Widescreen</PresentationFormat>
  <Paragraphs>82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D - [CB.EN.U4ECE25057]</cp:lastModifiedBy>
  <cp:revision>156</cp:revision>
  <cp:lastPrinted>2026-08-30T11:01:31Z</cp:lastPrinted>
  <dcterms:created xsi:type="dcterms:W3CDTF">2013-12-12T18:46:50Z</dcterms:created>
  <dcterms:modified xsi:type="dcterms:W3CDTF">2026-09-07T03:43:13Z</dcterms:modified>
  <cp:category/>
</cp:coreProperties>
</file>